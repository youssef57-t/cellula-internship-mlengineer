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This deck walks through the EDA notebook: the dataset, its quality issues, then the eight questions one by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is large and mostly clean at the structural level: negligible missing values, no duplicates, no constant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of these rows are removed before answering the eight questions. Zero distance and zero coordinates are the big ones and overlap heavily.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3.4% of the data was lost. The rules overlap, so the total removed is smaller than the sum of the individual counts on the previous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short version: distance drives the fare. Early-morning and airport trips cost more because they are longer. Car condition, traffic, weather and passenger count barely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Median fare is 8.5 for 1 to 5 passengers and 9.0 for 6. The correlation is just 0.015. Fares are charged per trip, not per person. The small bump for 6 passengers comes from only ~10k trips.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conditions share a median fare of 8.5, and their means differ by under 0.1 (11.30 to 11.39). About 120k trips per condition. Car condition is not a pricing factor.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 fare peaks at 15.14 at 5 AM and is lowest at 10.59 at 7 PM. Why: trips are longest at 5 AM (5.33 km vs ~3 km by day). The median barely rises, so a few long rides drive the peak.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Flow, Dense and Congested Traffic all have a median fare of 8.5; their means differ by only 0.06. About 161k trips per level. The traffic label does not shift fares.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cleaning, distance correlates 0.78 (Pearson) and 0.86 (Spearman) with fare, up from 0.61 on raw data. Next best: distance to JFK (Spearman −0.19) and year (0.15). Every time feature is below 0.03.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 peaks in the evening, at 30,298 trips at 7 PM, and bottoms out at 4,789 at 5 AM. Note the dip at 4 PM (19,841). The busiest hour has the lowest mean fare; the quietest has the highest.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Median trip distance is 2.16–2.19 km under all five weather conditions. Means are 3.38–3.40 km, with ~96–97k trips per condition. Weather does not change trip length.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Pickups within 2 km of JFK, LGA or EWR have a median fare of 34.27, versus 8.10 for other trips. They cost more because they are longer (10.87 km vs 2.11 km). Per km they are cheaper: 2.83 vs 3.86.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Wrap-up: after cleaning 3.4% of invalid rows, distance explains most of the fare. Time of day and airport pickups matter through trip length. The categorical labels are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206375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200" kern="0" dirty="0">
                <a:solidFill>
                  <a:srgbClr val="F5B7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EXPLORATORY DATA ANALYSIS · TASK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2800" y="258445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5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drives a</a:t>
            </a:r>
            <a:endParaRPr lang="en-US" sz="6000" dirty="0"/>
          </a:p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5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taxi fare?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443865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8B5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Eight questions answered from 500,000 NYC taxi trips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dataset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669415"/>
            <a:ext cx="2482850" cy="2084070"/>
          </a:xfrm>
          <a:prstGeom prst="roundRect">
            <a:avLst>
              <a:gd name="adj" fmla="val 4723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925320"/>
            <a:ext cx="2030171" cy="125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500,000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71880" y="3230880"/>
            <a:ext cx="203017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trips (rows)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08375" y="1669415"/>
            <a:ext cx="2482850" cy="2084070"/>
          </a:xfrm>
          <a:prstGeom prst="roundRect">
            <a:avLst>
              <a:gd name="adj" fmla="val 4723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64280" y="1925320"/>
            <a:ext cx="20301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26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764280" y="2616200"/>
            <a:ext cx="203017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columns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00775" y="1669415"/>
            <a:ext cx="2482850" cy="2084070"/>
          </a:xfrm>
          <a:prstGeom prst="roundRect">
            <a:avLst>
              <a:gd name="adj" fmla="val 4723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6680" y="1925320"/>
            <a:ext cx="20301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56680" y="2616200"/>
            <a:ext cx="203017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missing values in 9 columns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93175" y="1669415"/>
            <a:ext cx="2482850" cy="2084070"/>
          </a:xfrm>
          <a:prstGeom prst="roundRect">
            <a:avLst>
              <a:gd name="adj" fmla="val 4723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9080" y="1925320"/>
            <a:ext cx="20301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9149080" y="2616200"/>
            <a:ext cx="203017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 rows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4163060"/>
            <a:ext cx="9156700" cy="127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Trips from </a:t>
            </a:r>
            <a:r>
              <a:rPr lang="en-US" sz="1700" b="1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2009–2015</a:t>
            </a:r>
            <a:r>
              <a:rPr lang="en-US" sz="17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with fare, passenger count, pickup/dropoff coordinates, distances to airports, time features, plus </a:t>
            </a:r>
            <a:r>
              <a:rPr lang="en-US" sz="1700" b="1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 Condition</a:t>
            </a:r>
            <a:r>
              <a:rPr lang="en-US" sz="17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r>
              <a:rPr lang="en-US" sz="1700" b="1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Weather</a:t>
            </a:r>
            <a:r>
              <a:rPr lang="en-US" sz="17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 </a:t>
            </a:r>
            <a:r>
              <a:rPr lang="en-US" sz="1700" b="1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Traffic Condition</a:t>
            </a:r>
            <a:r>
              <a:rPr lang="en-US" sz="17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The categorical columns are almost perfectly balanced; </a:t>
            </a:r>
            <a:r>
              <a:rPr lang="en-US" sz="1700" b="1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pickup_datetime</a:t>
            </a:r>
            <a:r>
              <a:rPr lang="en-US" sz="17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still needs converting to a datetime.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Source: task_1_submission.ipynb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40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67"/>
              </a:lnSpc>
              <a:buNone/>
            </a:pPr>
            <a:r>
              <a:rPr lang="en-US" sz="297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quality issues found</a:t>
            </a:r>
            <a:endParaRPr lang="en-US" sz="297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42573"/>
          <a:ext cx="10556240" cy="4299426"/>
        </p:xfrm>
        <a:graphic>
          <a:graphicData uri="http://schemas.openxmlformats.org/drawingml/2006/table">
            <a:tbl>
              <a:tblPr/>
              <a:tblGrid>
                <a:gridCol w="3518747"/>
                <a:gridCol w="3518747"/>
                <a:gridCol w="3518747"/>
              </a:tblGrid>
              <a:tr h="469186">
                <a:tc>
                  <a:txBody>
                    <a:bodyPr/>
                    <a:lstStyle/>
                    <a:p>
                      <a:pPr indent="0" marL="0">
                        <a:lnSpc>
                          <a:spcPts val="2149"/>
                        </a:lnSpc>
                        <a:buNone/>
                      </a:pPr>
                      <a:r>
                        <a:rPr lang="en-US" sz="1535" b="1" dirty="0">
                          <a:solidFill>
                            <a:srgbClr val="8A5A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Check</a:t>
                      </a:r>
                      <a:endParaRPr lang="en-US" sz="15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49"/>
                        </a:lnSpc>
                        <a:buNone/>
                      </a:pPr>
                      <a:r>
                        <a:rPr lang="en-US" sz="1535" b="1" dirty="0">
                          <a:solidFill>
                            <a:srgbClr val="8A5A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Records</a:t>
                      </a:r>
                      <a:endParaRPr lang="en-US" sz="15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B5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49"/>
                        </a:lnSpc>
                        <a:buNone/>
                      </a:pPr>
                      <a:r>
                        <a:rPr lang="en-US" sz="1535" b="1" dirty="0">
                          <a:solidFill>
                            <a:srgbClr val="8A5A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Why it matters</a:t>
                      </a:r>
                      <a:endParaRPr lang="en-US" sz="15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B5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B"/>
                    </a:solidFill>
                  </a:tcPr>
                </a:tc>
              </a:tr>
              <a:tr h="469186">
                <a:tc>
                  <a:txBody>
                    <a:bodyPr/>
                    <a:lstStyle/>
                    <a:p>
                      <a:pPr indent="0" marL="0">
                        <a:lnSpc>
                          <a:spcPts val="2149"/>
                        </a:lnSpc>
                        <a:buNone/>
                      </a:pPr>
                      <a:r>
                        <a:rPr lang="en-US" sz="1535" dirty="0">
                          <a:solidFill>
                            <a:srgbClr val="1B1C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Zero distance</a:t>
                      </a:r>
                      <a:endParaRPr lang="en-US" sz="15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49"/>
                        </a:lnSpc>
                        <a:buNone/>
                      </a:pPr>
                      <a:r>
                        <a:rPr lang="en-US" sz="1535" dirty="0">
                          <a:solidFill>
                            <a:srgbClr val="1B1C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14,250</a:t>
                      </a:r>
                      <a:endParaRPr lang="en-US" sz="15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49"/>
                        </a:lnSpc>
                        <a:buNone/>
                      </a:pPr>
                      <a:r>
                        <a:rPr lang="en-US" sz="1535" dirty="0">
                          <a:solidFill>
                            <a:srgbClr val="5D5F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Many still have a non-zero fare</a:t>
                      </a:r>
                      <a:endParaRPr lang="en-US" sz="15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186">
                <a:tc>
                  <a:txBody>
                    <a:bodyPr/>
                    <a:lstStyle/>
                    <a:p>
                      <a:pPr indent="0" marL="0">
                        <a:lnSpc>
                          <a:spcPts val="2149"/>
                        </a:lnSpc>
                        <a:buNone/>
                      </a:pPr>
                      <a:r>
                        <a:rPr lang="en-US" sz="1535" dirty="0">
                          <a:solidFill>
                            <a:srgbClr val="1B1C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Zero coordinate (GPS default)</a:t>
                      </a:r>
                      <a:endParaRPr lang="en-US" sz="15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49"/>
                        </a:lnSpc>
                        <a:buNone/>
                      </a:pPr>
                      <a:r>
                        <a:rPr lang="en-US" sz="1535" dirty="0">
                          <a:solidFill>
                            <a:srgbClr val="1B1C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9,893</a:t>
                      </a:r>
                      <a:endParaRPr lang="en-US" sz="15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49"/>
                        </a:lnSpc>
                        <a:buNone/>
                      </a:pPr>
                      <a:r>
                        <a:rPr lang="en-US" sz="1535" dirty="0">
                          <a:solidFill>
                            <a:srgbClr val="5D5F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Pickup or dropoff recorded at (0, 0)</a:t>
                      </a:r>
                      <a:endParaRPr lang="en-US" sz="15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186">
                <a:tc>
                  <a:txBody>
                    <a:bodyPr/>
                    <a:lstStyle/>
                    <a:p>
                      <a:pPr indent="0" marL="0">
                        <a:lnSpc>
                          <a:spcPts val="2149"/>
                        </a:lnSpc>
                        <a:buNone/>
                      </a:pPr>
                      <a:r>
                        <a:rPr lang="en-US" sz="1535" dirty="0">
                          <a:solidFill>
                            <a:srgbClr val="1B1C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Zero passengers</a:t>
                      </a:r>
                      <a:endParaRPr lang="en-US" sz="15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49"/>
                        </a:lnSpc>
                        <a:buNone/>
                      </a:pPr>
                      <a:r>
                        <a:rPr lang="en-US" sz="1535" dirty="0">
                          <a:solidFill>
                            <a:srgbClr val="1B1C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1,796</a:t>
                      </a:r>
                      <a:endParaRPr lang="en-US" sz="15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49"/>
                        </a:lnSpc>
                        <a:buNone/>
                      </a:pPr>
                      <a:r>
                        <a:rPr lang="en-US" sz="1535" dirty="0">
                          <a:solidFill>
                            <a:srgbClr val="5D5F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 valid trip</a:t>
                      </a:r>
                      <a:endParaRPr lang="en-US" sz="15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077">
                <a:tc>
                  <a:txBody>
                    <a:bodyPr/>
                    <a:lstStyle/>
                    <a:p>
                      <a:pPr indent="0" marL="0">
                        <a:lnSpc>
                          <a:spcPts val="2149"/>
                        </a:lnSpc>
                        <a:buNone/>
                      </a:pPr>
                      <a:r>
                        <a:rPr lang="en-US" sz="1535" dirty="0">
                          <a:solidFill>
                            <a:srgbClr val="1B1C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Distance over 200 km</a:t>
                      </a:r>
                      <a:endParaRPr lang="en-US" sz="15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49"/>
                        </a:lnSpc>
                        <a:buNone/>
                      </a:pPr>
                      <a:r>
                        <a:rPr lang="en-US" sz="1535" dirty="0">
                          <a:solidFill>
                            <a:srgbClr val="1B1C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1,004</a:t>
                      </a:r>
                      <a:endParaRPr lang="en-US" sz="15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49"/>
                        </a:lnSpc>
                        <a:buNone/>
                      </a:pPr>
                      <a:r>
                        <a:rPr lang="en-US" sz="1535" dirty="0">
                          <a:solidFill>
                            <a:srgbClr val="5D5F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Up to ~12,000 km — impossible for a taxi ride</a:t>
                      </a:r>
                      <a:endParaRPr lang="en-US" sz="15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186">
                <a:tc>
                  <a:txBody>
                    <a:bodyPr/>
                    <a:lstStyle/>
                    <a:p>
                      <a:pPr indent="0" marL="0">
                        <a:lnSpc>
                          <a:spcPts val="2149"/>
                        </a:lnSpc>
                        <a:buNone/>
                      </a:pPr>
                      <a:r>
                        <a:rPr lang="en-US" sz="1535" dirty="0">
                          <a:solidFill>
                            <a:srgbClr val="1B1C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Fare over 100 for under 1 km</a:t>
                      </a:r>
                      <a:endParaRPr lang="en-US" sz="15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49"/>
                        </a:lnSpc>
                        <a:buNone/>
                      </a:pPr>
                      <a:r>
                        <a:rPr lang="en-US" sz="1535" dirty="0">
                          <a:solidFill>
                            <a:srgbClr val="1B1C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93</a:t>
                      </a:r>
                      <a:endParaRPr lang="en-US" sz="15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49"/>
                        </a:lnSpc>
                        <a:buNone/>
                      </a:pPr>
                      <a:r>
                        <a:rPr lang="en-US" sz="1535" dirty="0">
                          <a:solidFill>
                            <a:srgbClr val="5D5F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Likely entry errors or special charges</a:t>
                      </a:r>
                      <a:endParaRPr lang="en-US" sz="15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156">
                <a:tc>
                  <a:txBody>
                    <a:bodyPr/>
                    <a:lstStyle/>
                    <a:p>
                      <a:pPr indent="0" marL="0">
                        <a:lnSpc>
                          <a:spcPts val="2149"/>
                        </a:lnSpc>
                        <a:buNone/>
                      </a:pPr>
                      <a:r>
                        <a:rPr lang="en-US" sz="1535" dirty="0">
                          <a:solidFill>
                            <a:srgbClr val="1B1C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Negative fare</a:t>
                      </a:r>
                      <a:endParaRPr lang="en-US" sz="15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49"/>
                        </a:lnSpc>
                        <a:buNone/>
                      </a:pPr>
                      <a:r>
                        <a:rPr lang="en-US" sz="1535" dirty="0">
                          <a:solidFill>
                            <a:srgbClr val="1B1C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21</a:t>
                      </a:r>
                      <a:endParaRPr lang="en-US" sz="15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49"/>
                        </a:lnSpc>
                        <a:buNone/>
                      </a:pPr>
                      <a:r>
                        <a:rPr lang="en-US" sz="1535" dirty="0">
                          <a:solidFill>
                            <a:srgbClr val="5D5F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Physically impossible (as low as −44.90)</a:t>
                      </a:r>
                      <a:endParaRPr lang="en-US" sz="15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265">
                <a:tc>
                  <a:txBody>
                    <a:bodyPr/>
                    <a:lstStyle/>
                    <a:p>
                      <a:pPr indent="0" marL="0">
                        <a:lnSpc>
                          <a:spcPts val="2149"/>
                        </a:lnSpc>
                        <a:buNone/>
                      </a:pPr>
                      <a:r>
                        <a:rPr lang="en-US" sz="1535" dirty="0">
                          <a:solidFill>
                            <a:srgbClr val="1B1C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Zero fare</a:t>
                      </a:r>
                      <a:endParaRPr lang="en-US" sz="15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49"/>
                        </a:lnSpc>
                        <a:buNone/>
                      </a:pPr>
                      <a:r>
                        <a:rPr lang="en-US" sz="1535" dirty="0">
                          <a:solidFill>
                            <a:srgbClr val="1B1C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</a:t>
                      </a:r>
                      <a:endParaRPr lang="en-US" sz="15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49"/>
                        </a:lnSpc>
                        <a:buNone/>
                      </a:pPr>
                      <a:r>
                        <a:rPr lang="en-US" sz="1535" dirty="0">
                          <a:solidFill>
                            <a:srgbClr val="5D5F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Suspicious for a completed trip</a:t>
                      </a:r>
                      <a:endParaRPr lang="en-US" sz="15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Coordinates are stored in radians · median pickup = (40.75°, −73.98°), midtown Manhattan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B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74825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200" kern="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 CLEANING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12800" y="2244725"/>
            <a:ext cx="10883392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000"/>
              </a:lnSpc>
              <a:buNone/>
            </a:pPr>
            <a:r>
              <a:rPr lang="en-US" sz="110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96.6%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812800" y="3844925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trips kept: 482,905 of 500,000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4457066"/>
            <a:ext cx="850265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17,095 invalid rows removed. Every answer that follows uses the cleaned data, so data errors no longer distort the results.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Eight questions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4"/>
            <a:ext cx="2520950" cy="1682750"/>
          </a:xfrm>
          <a:prstGeom prst="roundRect">
            <a:avLst>
              <a:gd name="adj" fmla="val 5849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772921"/>
            <a:ext cx="217406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21080" y="2080261"/>
            <a:ext cx="217406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Does passenger count raise the fare?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1080" y="2618739"/>
            <a:ext cx="217406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495675" y="1567814"/>
            <a:ext cx="2520950" cy="1682750"/>
          </a:xfrm>
          <a:prstGeom prst="roundRect">
            <a:avLst>
              <a:gd name="adj" fmla="val 5849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0780" y="1772921"/>
            <a:ext cx="217406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00780" y="2080261"/>
            <a:ext cx="217406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Does car condition affect the fare?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00780" y="2618739"/>
            <a:ext cx="217406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175375" y="1567814"/>
            <a:ext cx="2520950" cy="1682750"/>
          </a:xfrm>
          <a:prstGeom prst="roundRect">
            <a:avLst>
              <a:gd name="adj" fmla="val 5849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0480" y="1772921"/>
            <a:ext cx="217406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80480" y="2080261"/>
            <a:ext cx="217406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are fares highest?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80480" y="2387600"/>
            <a:ext cx="217406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AM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855075" y="1567814"/>
            <a:ext cx="2520950" cy="1682750"/>
          </a:xfrm>
          <a:prstGeom prst="roundRect">
            <a:avLst>
              <a:gd name="adj" fmla="val 5849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60180" y="1772921"/>
            <a:ext cx="217406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60180" y="2080261"/>
            <a:ext cx="217406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Does traffic affect the fare?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60180" y="2618739"/>
            <a:ext cx="217406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15975" y="3409314"/>
            <a:ext cx="2520950" cy="1682750"/>
          </a:xfrm>
          <a:prstGeom prst="roundRect">
            <a:avLst>
              <a:gd name="adj" fmla="val 5849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1080" y="3614421"/>
            <a:ext cx="217406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21080" y="3921761"/>
            <a:ext cx="217406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 distance the strongest predictor?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21080" y="4460239"/>
            <a:ext cx="217406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Yes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3495675" y="3409314"/>
            <a:ext cx="2520950" cy="1682750"/>
          </a:xfrm>
          <a:prstGeom prst="roundRect">
            <a:avLst>
              <a:gd name="adj" fmla="val 5849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0780" y="3614421"/>
            <a:ext cx="217406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00780" y="3921761"/>
            <a:ext cx="217406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are rides most requested?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00780" y="4460239"/>
            <a:ext cx="217406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 PM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6175375" y="3409314"/>
            <a:ext cx="2520950" cy="1682750"/>
          </a:xfrm>
          <a:prstGeom prst="roundRect">
            <a:avLst>
              <a:gd name="adj" fmla="val 5849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0480" y="3614421"/>
            <a:ext cx="217406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80480" y="3921761"/>
            <a:ext cx="217406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Does weather change trip distance?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80480" y="4460239"/>
            <a:ext cx="217406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8855075" y="3409314"/>
            <a:ext cx="2520950" cy="1682750"/>
          </a:xfrm>
          <a:prstGeom prst="roundRect">
            <a:avLst>
              <a:gd name="adj" fmla="val 5849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60180" y="3614421"/>
            <a:ext cx="217406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Q8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060180" y="3921761"/>
            <a:ext cx="217406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Are airport pickups pricier?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060180" y="4460239"/>
            <a:ext cx="217406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Yes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1252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 higher passenger count associated with a higher fare?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44550" y="1757682"/>
            <a:ext cx="0" cy="815340"/>
          </a:xfrm>
          <a:prstGeom prst="line">
            <a:avLst/>
          </a:prstGeom>
          <a:noFill/>
          <a:ln w="63500">
            <a:solidFill>
              <a:srgbClr val="F5B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57682"/>
            <a:ext cx="37307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014221"/>
            <a:ext cx="3730701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12800" y="2750821"/>
            <a:ext cx="397662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Median fare is 8.5 for 1 to 5 passengers and 9.0 for 6. The correlation is just 0.015.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3481071"/>
            <a:ext cx="3976624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Fares are charged per trip, not per person. The small bump for 6 passengers comes from only ~10k trips.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757682"/>
            <a:ext cx="6350000" cy="3556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pic>
        <p:nvPicPr>
          <p:cNvPr id="10" name="Image 0" descr="Box plot · fare by passenger count (cleaned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556" y="1764032"/>
            <a:ext cx="5423288" cy="35433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32375" y="1760857"/>
            <a:ext cx="6343650" cy="3549650"/>
          </a:xfrm>
          <a:prstGeom prst="roundRect">
            <a:avLst>
              <a:gd name="adj" fmla="val 2773"/>
            </a:avLst>
          </a:prstGeom>
          <a:noFill/>
          <a:ln w="6350">
            <a:solidFill>
              <a:srgbClr val="E2DE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538988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Box plot · fare by passenger count (cleaned data)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Q1 of 8 · NYC taxi fares EDA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1252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Does car condition influence the fare amount?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44550" y="1757682"/>
            <a:ext cx="0" cy="815340"/>
          </a:xfrm>
          <a:prstGeom prst="line">
            <a:avLst/>
          </a:prstGeom>
          <a:noFill/>
          <a:ln w="63500">
            <a:solidFill>
              <a:srgbClr val="F5B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57682"/>
            <a:ext cx="37307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014221"/>
            <a:ext cx="3730701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12800" y="2750821"/>
            <a:ext cx="3976624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four conditions share a median fare of 8.5, and their means differ by under 0.1 (11.30 to 11.39).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3757296"/>
            <a:ext cx="3976624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120k trips per condition. Car condition is not a pricing factor.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757682"/>
            <a:ext cx="6350000" cy="3556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pic>
        <p:nvPicPr>
          <p:cNvPr id="10" name="Image 0" descr="Box plot · fare by car condition (cleaned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556" y="1764032"/>
            <a:ext cx="5423288" cy="35433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32375" y="1760857"/>
            <a:ext cx="6343650" cy="3549650"/>
          </a:xfrm>
          <a:prstGeom prst="roundRect">
            <a:avLst>
              <a:gd name="adj" fmla="val 2773"/>
            </a:avLst>
          </a:prstGeom>
          <a:noFill/>
          <a:ln w="6350">
            <a:solidFill>
              <a:srgbClr val="E2DE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538988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Box plot · fare by car condition (cleaned data)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Q2 of 8 · NYC taxi fares EDA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1252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 what hour of the day are fares highest?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44550" y="1757682"/>
            <a:ext cx="0" cy="815340"/>
          </a:xfrm>
          <a:prstGeom prst="line">
            <a:avLst/>
          </a:prstGeom>
          <a:noFill/>
          <a:ln w="63500">
            <a:solidFill>
              <a:srgbClr val="F5B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57682"/>
            <a:ext cx="37307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014221"/>
            <a:ext cx="3730701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AM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12800" y="2750821"/>
            <a:ext cx="397662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Mean fare peaks at 15.14 at 5 AM and is lowest at 10.59 at 7 PM.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3481071"/>
            <a:ext cx="3976624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Why: trips are longest at 5 AM (5.33 km vs ~3 km by day). The median barely rises, so a few long rides drive the peak.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757682"/>
            <a:ext cx="6350000" cy="3556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pic>
        <p:nvPicPr>
          <p:cNvPr id="10" name="Image 0" descr="Mean fare, median fare and mean distance by ho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5550" y="1884539"/>
            <a:ext cx="6337300" cy="330228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32375" y="1760857"/>
            <a:ext cx="6343650" cy="3549650"/>
          </a:xfrm>
          <a:prstGeom prst="roundRect">
            <a:avLst>
              <a:gd name="adj" fmla="val 2773"/>
            </a:avLst>
          </a:prstGeom>
          <a:noFill/>
          <a:ln w="6350">
            <a:solidFill>
              <a:srgbClr val="E2DE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538987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Mean fare, median fare and mean distance by hour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Q3 of 8 · NYC taxi fares EDA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1252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Does traffic condition affect the trip fare?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44550" y="1757679"/>
            <a:ext cx="0" cy="815340"/>
          </a:xfrm>
          <a:prstGeom prst="line">
            <a:avLst/>
          </a:prstGeom>
          <a:noFill/>
          <a:ln w="63500">
            <a:solidFill>
              <a:srgbClr val="F5B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57679"/>
            <a:ext cx="37307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014221"/>
            <a:ext cx="3730701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12800" y="2750821"/>
            <a:ext cx="3976624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Flow, Dense and Congested Traffic all have a median fare of 8.5; their means differ by only 0.06.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3757296"/>
            <a:ext cx="3976624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161k trips per level. The traffic label does not shift fares.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757679"/>
            <a:ext cx="6350000" cy="3556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pic>
        <p:nvPicPr>
          <p:cNvPr id="10" name="Image 0" descr="Box plot · fare by traffic condition (cleaned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556" y="1764029"/>
            <a:ext cx="5423288" cy="35433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32375" y="1760854"/>
            <a:ext cx="6343650" cy="3549650"/>
          </a:xfrm>
          <a:prstGeom prst="roundRect">
            <a:avLst>
              <a:gd name="adj" fmla="val 2773"/>
            </a:avLst>
          </a:prstGeom>
          <a:noFill/>
          <a:ln w="6350">
            <a:solidFill>
              <a:srgbClr val="E2DE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538987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Box plot · fare by traffic condition (cleaned data)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Q4 of 8 · NYC taxi fares EDA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1252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 trip distance the strongest predictor of fare?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44550" y="1757679"/>
            <a:ext cx="0" cy="815340"/>
          </a:xfrm>
          <a:prstGeom prst="line">
            <a:avLst/>
          </a:prstGeom>
          <a:noFill/>
          <a:ln w="63500">
            <a:solidFill>
              <a:srgbClr val="F5B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57679"/>
            <a:ext cx="37307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014221"/>
            <a:ext cx="3730701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12800" y="2750821"/>
            <a:ext cx="3976624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 cleaning, distance correlates 0.78 (Pearson) and 0.86 (Spearman) with fare, up from 0.61 on raw data.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3757296"/>
            <a:ext cx="3976624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 best: distance to JFK (Spearman −0.19) and year (0.15). Every time feature is below 0.03.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757679"/>
            <a:ext cx="6350000" cy="3556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pic>
        <p:nvPicPr>
          <p:cNvPr id="10" name="Image 0" descr="Fare vs. distance with regression line (50k sampl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183" y="1764029"/>
            <a:ext cx="5436034" cy="35433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32375" y="1760854"/>
            <a:ext cx="6343650" cy="3549650"/>
          </a:xfrm>
          <a:prstGeom prst="roundRect">
            <a:avLst>
              <a:gd name="adj" fmla="val 2773"/>
            </a:avLst>
          </a:prstGeom>
          <a:noFill/>
          <a:ln w="6350">
            <a:solidFill>
              <a:srgbClr val="E2DE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538987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Fare vs. distance with regression line (50k sample)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Q5 of 8 · NYC taxi fares EDA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1252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 what time of day are ride requests most frequent?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44550" y="1757679"/>
            <a:ext cx="0" cy="815340"/>
          </a:xfrm>
          <a:prstGeom prst="line">
            <a:avLst/>
          </a:prstGeom>
          <a:noFill/>
          <a:ln w="63500">
            <a:solidFill>
              <a:srgbClr val="F5B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57679"/>
            <a:ext cx="37307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014221"/>
            <a:ext cx="3730701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 PM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12800" y="2750821"/>
            <a:ext cx="3976624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Demand peaks in the evening, at 30,298 trips at 7 PM, and bottoms out at 4,789 at 5 AM.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3757296"/>
            <a:ext cx="3976624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Note the dip at 4 PM (19,841). The busiest hour has the lowest mean fare; the quietest has the highest.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757679"/>
            <a:ext cx="6350000" cy="3556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pic>
        <p:nvPicPr>
          <p:cNvPr id="10" name="Image 0" descr="Count plot · ride requests by hour (cleaned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5550" y="1833486"/>
            <a:ext cx="6337300" cy="3404385"/>
          </a:xfrm>
          <a:custGeom>
            <a:avLst/>
            <a:gdLst/>
            <a:ahLst/>
            <a:cxnLst/>
            <a:rect l="l" t="t" r="r" b="b"/>
            <a:pathLst>
              <a:path w="6337300" h="3404385">
                <a:moveTo>
                  <a:pt x="0" y="25793"/>
                </a:moveTo>
                <a:arcTo wR="95250" hR="95250" stAng="10800000" swAng="942674"/>
                <a:lnTo>
                  <a:pt x="6333741" y="0"/>
                </a:lnTo>
                <a:arcTo wR="95250" hR="95250" stAng="20657326" swAng="942674"/>
                <a:lnTo>
                  <a:pt x="6337300" y="3378593"/>
                </a:lnTo>
                <a:arcTo wR="95250" hR="95250" stAng="0" swAng="942674"/>
                <a:lnTo>
                  <a:pt x="3559" y="3404385"/>
                </a:lnTo>
                <a:arcTo wR="95250" hR="95250" stAng="9857326" swAng="942674"/>
                <a:close/>
              </a:path>
            </a:pathLst>
          </a:custGeom>
        </p:spPr>
      </p:pic>
      <p:sp>
        <p:nvSpPr>
          <p:cNvPr id="11" name="Shape 8"/>
          <p:cNvSpPr/>
          <p:nvPr/>
        </p:nvSpPr>
        <p:spPr>
          <a:xfrm>
            <a:off x="5032375" y="1760854"/>
            <a:ext cx="6343650" cy="3549650"/>
          </a:xfrm>
          <a:prstGeom prst="roundRect">
            <a:avLst>
              <a:gd name="adj" fmla="val 2773"/>
            </a:avLst>
          </a:prstGeom>
          <a:noFill/>
          <a:ln w="6350">
            <a:solidFill>
              <a:srgbClr val="E2DE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538987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 plot · ride requests by hour (cleaned data)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Q6 of 8 · NYC taxi fares EDA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 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1252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Does weather influence the average trip distance?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44550" y="1757679"/>
            <a:ext cx="0" cy="815340"/>
          </a:xfrm>
          <a:prstGeom prst="line">
            <a:avLst/>
          </a:prstGeom>
          <a:noFill/>
          <a:ln w="63500">
            <a:solidFill>
              <a:srgbClr val="F5B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57679"/>
            <a:ext cx="37307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014221"/>
            <a:ext cx="3730701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12800" y="2750821"/>
            <a:ext cx="397662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Median trip distance is 2.16–2.19 km under all five weather conditions.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3481071"/>
            <a:ext cx="3976624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Means are 3.38–3.40 km, with ~96–97k trips per condition. Weather does not change trip length.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757679"/>
            <a:ext cx="6350000" cy="3556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pic>
        <p:nvPicPr>
          <p:cNvPr id="10" name="Image 0" descr="Box plot · distance by weather (cleaned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7946" y="1764029"/>
            <a:ext cx="5512508" cy="35433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32375" y="1760854"/>
            <a:ext cx="6343650" cy="3549650"/>
          </a:xfrm>
          <a:prstGeom prst="roundRect">
            <a:avLst>
              <a:gd name="adj" fmla="val 2773"/>
            </a:avLst>
          </a:prstGeom>
          <a:noFill/>
          <a:ln w="6350">
            <a:solidFill>
              <a:srgbClr val="E2DE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538987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Box plot · distance by weather (cleaned data)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Q7 of 8 · NYC taxi fares EDA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1252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Are rides that start closer to airports more expensive?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44550" y="1757679"/>
            <a:ext cx="0" cy="815340"/>
          </a:xfrm>
          <a:prstGeom prst="line">
            <a:avLst/>
          </a:prstGeom>
          <a:noFill/>
          <a:ln w="63500">
            <a:solidFill>
              <a:srgbClr val="F5B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57679"/>
            <a:ext cx="37307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014221"/>
            <a:ext cx="3730701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12800" y="2750821"/>
            <a:ext cx="3976624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Pickups within 2 km of JFK, LGA or EWR have a median fare of 34.27, versus 8.10 for other trips.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3757296"/>
            <a:ext cx="3976624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They cost more because they are longer (10.87 km vs 2.11 km). Per km they are cheaper: 2.83 vs 3.86.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757679"/>
            <a:ext cx="6350000" cy="3556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pic>
        <p:nvPicPr>
          <p:cNvPr id="10" name="Image 0" descr="Fare and fare per km · airport vs. other picku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5550" y="2198618"/>
            <a:ext cx="6337300" cy="267412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32375" y="1760854"/>
            <a:ext cx="6343650" cy="3549650"/>
          </a:xfrm>
          <a:prstGeom prst="roundRect">
            <a:avLst>
              <a:gd name="adj" fmla="val 2773"/>
            </a:avLst>
          </a:prstGeom>
          <a:noFill/>
          <a:ln w="6350">
            <a:solidFill>
              <a:srgbClr val="E2DE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538987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Fare and fare per km · airport vs. other pickups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Q8 of 8 · NYC taxi fares EDA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5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615442"/>
            <a:ext cx="5181600" cy="1468120"/>
          </a:xfrm>
          <a:prstGeom prst="roundRect">
            <a:avLst>
              <a:gd name="adj" fmla="val 6920"/>
            </a:avLst>
          </a:prstGeom>
          <a:solidFill>
            <a:srgbClr val="2A2B2E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615442"/>
            <a:ext cx="5181600" cy="1468120"/>
          </a:xfrm>
          <a:custGeom>
            <a:avLst/>
            <a:gdLst/>
            <a:ahLst/>
            <a:cxnLst/>
            <a:rect l="l" t="t" r="r" b="b"/>
            <a:pathLst>
              <a:path w="5181600" h="14681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00" y="0"/>
                </a:lnTo>
                <a:arcTo hR="101600" wR="101600" stAng="16200000" swAng="5400000"/>
                <a:lnTo>
                  <a:pt x="5181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F5B700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1920242"/>
            <a:ext cx="481380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5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Distance is the fare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66800" y="2313942"/>
            <a:ext cx="481380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B8B5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one strong driver: r = 0.78 (Spearman 0.86) after cleaning.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7600" y="1615442"/>
            <a:ext cx="5181600" cy="1468120"/>
          </a:xfrm>
          <a:prstGeom prst="roundRect">
            <a:avLst>
              <a:gd name="adj" fmla="val 6920"/>
            </a:avLst>
          </a:prstGeom>
          <a:solidFill>
            <a:srgbClr val="2A2B2E"/>
          </a:solidFill>
          <a:ln/>
        </p:spPr>
      </p:sp>
      <p:sp>
        <p:nvSpPr>
          <p:cNvPr id="8" name="Shape 6"/>
          <p:cNvSpPr/>
          <p:nvPr/>
        </p:nvSpPr>
        <p:spPr>
          <a:xfrm>
            <a:off x="6197600" y="1615442"/>
            <a:ext cx="5181600" cy="1468120"/>
          </a:xfrm>
          <a:custGeom>
            <a:avLst/>
            <a:gdLst/>
            <a:ahLst/>
            <a:cxnLst/>
            <a:rect l="l" t="t" r="r" b="b"/>
            <a:pathLst>
              <a:path w="5181600" h="14681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00" y="0"/>
                </a:lnTo>
                <a:arcTo hR="101600" wR="101600" stAng="16200000" swAng="5400000"/>
                <a:lnTo>
                  <a:pt x="5181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F5B700"/>
          </a:solidFill>
          <a:ln/>
        </p:spPr>
      </p:sp>
      <p:sp>
        <p:nvSpPr>
          <p:cNvPr id="9" name="Text 7"/>
          <p:cNvSpPr/>
          <p:nvPr/>
        </p:nvSpPr>
        <p:spPr>
          <a:xfrm>
            <a:off x="6451600" y="1920242"/>
            <a:ext cx="481380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5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Longer trips cost more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51600" y="2313942"/>
            <a:ext cx="481380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B8B5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AM and airport pickups have the highest fares because their trips are longest, not pricier per km.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3286764"/>
            <a:ext cx="5181600" cy="1468120"/>
          </a:xfrm>
          <a:prstGeom prst="roundRect">
            <a:avLst>
              <a:gd name="adj" fmla="val 6920"/>
            </a:avLst>
          </a:prstGeom>
          <a:solidFill>
            <a:srgbClr val="2A2B2E"/>
          </a:solidFill>
          <a:ln/>
        </p:spPr>
      </p:sp>
      <p:sp>
        <p:nvSpPr>
          <p:cNvPr id="12" name="Shape 10"/>
          <p:cNvSpPr/>
          <p:nvPr/>
        </p:nvSpPr>
        <p:spPr>
          <a:xfrm>
            <a:off x="812800" y="3286764"/>
            <a:ext cx="5181600" cy="1468120"/>
          </a:xfrm>
          <a:custGeom>
            <a:avLst/>
            <a:gdLst/>
            <a:ahLst/>
            <a:cxnLst/>
            <a:rect l="l" t="t" r="r" b="b"/>
            <a:pathLst>
              <a:path w="5181600" h="14681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00" y="0"/>
                </a:lnTo>
                <a:arcTo hR="101600" wR="101600" stAng="16200000" swAng="5400000"/>
                <a:lnTo>
                  <a:pt x="5181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F5B7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3591564"/>
            <a:ext cx="481380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5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Demand peaks at 7 PM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66800" y="3985264"/>
            <a:ext cx="481380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B8B5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Evening is busiest; 5 AM is quietest, with a clear dip at 4 PM.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97600" y="3286764"/>
            <a:ext cx="5181600" cy="1468120"/>
          </a:xfrm>
          <a:prstGeom prst="roundRect">
            <a:avLst>
              <a:gd name="adj" fmla="val 6920"/>
            </a:avLst>
          </a:prstGeom>
          <a:solidFill>
            <a:srgbClr val="2A2B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97600" y="3286764"/>
            <a:ext cx="5181600" cy="1468120"/>
          </a:xfrm>
          <a:custGeom>
            <a:avLst/>
            <a:gdLst/>
            <a:ahLst/>
            <a:cxnLst/>
            <a:rect l="l" t="t" r="r" b="b"/>
            <a:pathLst>
              <a:path w="5181600" h="14681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00" y="0"/>
                </a:lnTo>
                <a:arcTo hR="101600" wR="101600" stAng="16200000" swAng="5400000"/>
                <a:lnTo>
                  <a:pt x="5181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F5B7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51600" y="3591564"/>
            <a:ext cx="481380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5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Labels don’t move price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51600" y="3985264"/>
            <a:ext cx="481380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B8B5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 condition, traffic, weather and passenger count show no real effect.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Taxi Fares — 8 Questions</dc:title>
  <dc:subject>PptxGenJS Presentation</dc:subject>
  <dc:creator>PptxGenJS</dc:creator>
  <cp:lastModifiedBy>PptxGenJS</cp:lastModifiedBy>
  <cp:revision>1</cp:revision>
  <dcterms:created xsi:type="dcterms:W3CDTF">2026-09-26T13:13:48Z</dcterms:created>
  <dcterms:modified xsi:type="dcterms:W3CDTF">2026-09-26T13:13:48Z</dcterms:modified>
</cp:coreProperties>
</file>