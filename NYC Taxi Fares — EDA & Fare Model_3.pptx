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notebook: data quality, cleaning, eight questions, heatmaps, then the modelling section and its caveats.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overlap, so the total removed is smaller than the sum of the 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fare_per_km was created in the Q8 airport analysis and then flowed into the model features. Results should be re-reported after it is removed. The notebook now winsorizes instead of removing IQR outliers.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0251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B8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SCIENCE · EDA AND FARE MODEL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84099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4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NYC Taxi Fares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89509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C9C5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drives fares and demand across 500,000 trips, 2009–2015, and a Random Forest fare model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and cleaning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5"/>
            <a:ext cx="5175250" cy="1634490"/>
          </a:xfrm>
          <a:prstGeom prst="roundRect">
            <a:avLst>
              <a:gd name="adj" fmla="val 6022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930400"/>
            <a:ext cx="480334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500,000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71880" y="2590800"/>
            <a:ext cx="480334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trips, 26 columns, 2009–2015. No duplicates, no constant columns.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0775" y="1674495"/>
            <a:ext cx="5175250" cy="1634490"/>
          </a:xfrm>
          <a:prstGeom prst="roundRect">
            <a:avLst>
              <a:gd name="adj" fmla="val 6022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6680" y="1930400"/>
            <a:ext cx="480334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96.6%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56680" y="2590800"/>
            <a:ext cx="480334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kept: 482,905 rows after removing 17,095 invalid trips.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677920"/>
          <a:ext cx="10556240" cy="2051050"/>
        </p:xfrm>
        <a:graphic>
          <a:graphicData uri="http://schemas.openxmlformats.org/drawingml/2006/table">
            <a:tbl>
              <a:tblPr/>
              <a:tblGrid>
                <a:gridCol w="5278120"/>
                <a:gridCol w="5278120"/>
              </a:tblGrid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Removed because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Rows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Zero distance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14,250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zero pickup or dropoff coordinate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9,893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Zero passengers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1,796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021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Distance over 200 km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1,004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12800" y="6238241"/>
            <a:ext cx="93806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Smaller rules: fare over 100 for under 1 km (93), fare ≤ 0 (35), missing values (5). Coordinates are stored in radians.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does not move the fare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81480"/>
          <a:ext cx="10556240" cy="3037840"/>
        </p:xfrm>
        <a:graphic>
          <a:graphicData uri="http://schemas.openxmlformats.org/drawingml/2006/table">
            <a:tbl>
              <a:tblPr/>
              <a:tblGrid>
                <a:gridCol w="5278120"/>
                <a:gridCol w="5278120"/>
              </a:tblGrid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Factor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Result on cleaned data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Passenger count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Median fare 8.5 for 1–5 passengers, 9.0 for 6. Correlation 0.015.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Car condition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Median fare 8.5 in all four groups. Means 11.30 to 11.39.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Traffic condition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Median fare 8.5 in all three groups. Means 11.31 to 11.37.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Weather (vs. distance)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Median trip 2.16–2.19 km under all five conditions.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074920"/>
            <a:ext cx="10883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three categorical features are almost perfectly balanced, which suggests they were assigned rather than observed.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12800" y="6238241"/>
            <a:ext cx="21144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 Q1, Q2, Q4, Q7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Distance drives the fare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5"/>
            <a:ext cx="3380264" cy="1865630"/>
          </a:xfrm>
          <a:prstGeom prst="roundRect">
            <a:avLst>
              <a:gd name="adj" fmla="val 5276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930400"/>
            <a:ext cx="2954507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0.858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71880" y="2590800"/>
            <a:ext cx="2954507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Spearman correlation of fare with distance (Pearson 0.784). It was 0.61 on the raw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789" y="1674495"/>
            <a:ext cx="3380343" cy="1865630"/>
          </a:xfrm>
          <a:prstGeom prst="roundRect">
            <a:avLst>
              <a:gd name="adj" fmla="val 5276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694" y="1930400"/>
            <a:ext cx="2954589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34.27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661694" y="2590800"/>
            <a:ext cx="295458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median airport-pickup fare, vs. 8.10 elsewhere (17,090 trips, 3.5%).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682" y="1674495"/>
            <a:ext cx="3380343" cy="1865630"/>
          </a:xfrm>
          <a:prstGeom prst="roundRect">
            <a:avLst>
              <a:gd name="adj" fmla="val 5276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587" y="1930400"/>
            <a:ext cx="2954589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2.83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51587" y="2590800"/>
            <a:ext cx="29545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median fare per km at airports, vs. 3.86 elsewhere. Airport trips are longer: 10.87 km vs. 2.11 km.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898900"/>
            <a:ext cx="113792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other feature comes close. The next strongest is year (0.151), consistent with fares rising over time.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14232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 Q5, Q8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and where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6"/>
            <a:ext cx="3380264" cy="1581150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930400"/>
            <a:ext cx="29545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Fares peak at 5 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880" y="2306321"/>
            <a:ext cx="2954507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Mean fare 15.14 at 5 AM, the quietest hour (4,789 trips). Mean distance also peaks there (5.33 km).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789" y="1674496"/>
            <a:ext cx="3380343" cy="1581150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694" y="19304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Demand peaks at 7 PM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1694" y="2306321"/>
            <a:ext cx="29545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30,298 trips at 7 PM, with the lowest mean fare of the day. Busiest slot: Wednesday 19:00.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682" y="1674496"/>
            <a:ext cx="3380343" cy="1581150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587" y="19304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Midtown and airports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1587" y="2306321"/>
            <a:ext cx="29545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Pickups concentrate in Midtown and Lower Manhattan. JFK has the highest median fares (above 40).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614421"/>
            <a:ext cx="10883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Midtown has the lowest median fare (about 8) but the highest fare per km. Short, slow trips spread the starting charge over little distance.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3405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 Q3, Q6 and the three heatmaps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4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Modelling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96620" y="1671321"/>
            <a:ext cx="5271770" cy="382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One-hot encoding and StandardScaler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 features: weekend, morning and evening peaks, quarter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SelectKBest: top 20 of 28 features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Winsorizing at the 1st and 99th percentiles: all 482,905 rows kept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80/20 split: 386,324 train, 96,581 test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5-fold CV with GridSearch on a Random Forest (8 combinations)</a:t>
            </a:r>
            <a:endParaRPr lang="en-US" sz="1500" dirty="0"/>
          </a:p>
          <a:p>
            <a:pPr algn="l" marL="170180" indent="-1701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Best: 100 trees, max depth 20, min split 2 (CV MAE 0.17)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26200" y="1671321"/>
            <a:ext cx="4953000" cy="1163320"/>
          </a:xfrm>
          <a:prstGeom prst="roundRect">
            <a:avLst>
              <a:gd name="adj" fmla="val 8734"/>
            </a:avLst>
          </a:prstGeom>
          <a:solidFill>
            <a:srgbClr val="23262D"/>
          </a:solidFill>
          <a:ln/>
        </p:spPr>
      </p:sp>
      <p:sp>
        <p:nvSpPr>
          <p:cNvPr id="5" name="Text 3"/>
          <p:cNvSpPr/>
          <p:nvPr/>
        </p:nvSpPr>
        <p:spPr>
          <a:xfrm>
            <a:off x="6629400" y="1874521"/>
            <a:ext cx="468299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5B8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0.1781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629400" y="2382521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5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MAE on the test 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26200" y="2987039"/>
            <a:ext cx="4953000" cy="1163320"/>
          </a:xfrm>
          <a:prstGeom prst="roundRect">
            <a:avLst>
              <a:gd name="adj" fmla="val 8734"/>
            </a:avLst>
          </a:prstGeom>
          <a:solidFill>
            <a:srgbClr val="23262D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3190239"/>
            <a:ext cx="468299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5B8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2.2281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629400" y="3698239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5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RMSE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26200" y="4302761"/>
            <a:ext cx="4953000" cy="1163320"/>
          </a:xfrm>
          <a:prstGeom prst="roundRect">
            <a:avLst>
              <a:gd name="adj" fmla="val 8734"/>
            </a:avLst>
          </a:prstGeom>
          <a:solidFill>
            <a:srgbClr val="23262D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4505961"/>
            <a:ext cx="468299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5B8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0.9474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629400" y="5013961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C5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R²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62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i="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Actual vs. predicted fare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812800" y="1503601"/>
            <a:ext cx="9906000" cy="3568145"/>
          </a:xfrm>
          <a:prstGeom prst="roundRect">
            <a:avLst>
              <a:gd name="adj" fmla="val 2847"/>
            </a:avLst>
          </a:prstGeom>
          <a:solidFill>
            <a:srgbClr val="FFFFFF"/>
          </a:solidFill>
          <a:ln/>
        </p:spPr>
      </p:sp>
      <p:pic>
        <p:nvPicPr>
          <p:cNvPr id="4" name="Image 0" descr="Actual vs predicted fare scatter and residual distrib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077" y="1509951"/>
            <a:ext cx="9637447" cy="35554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975" y="1506776"/>
            <a:ext cx="9899650" cy="3561795"/>
          </a:xfrm>
          <a:prstGeom prst="roundRect">
            <a:avLst>
              <a:gd name="adj" fmla="val 2763"/>
            </a:avLst>
          </a:prstGeom>
          <a:noFill/>
          <a:ln w="6350">
            <a:solidFill>
              <a:srgbClr val="E0DC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5325746"/>
            <a:ext cx="10883392" cy="541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5"/>
              </a:lnSpc>
              <a:buNone/>
            </a:pPr>
            <a:r>
              <a:rPr lang="en-US" sz="1565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Most predictions sit on the diagonal. The errors that remain are mostly low actual fares predicted too high, plus a few large misses.</a:t>
            </a:r>
            <a:endParaRPr lang="en-US" sz="1565" dirty="0"/>
          </a:p>
        </p:txBody>
      </p:sp>
      <p:sp>
        <p:nvSpPr>
          <p:cNvPr id="7" name="Text 4"/>
          <p:cNvSpPr/>
          <p:nvPr/>
        </p:nvSpPr>
        <p:spPr>
          <a:xfrm>
            <a:off x="812800" y="6238239"/>
            <a:ext cx="63017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set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Random Forest loss curve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39"/>
            <a:ext cx="5625465" cy="3765550"/>
          </a:xfrm>
          <a:prstGeom prst="roundRect">
            <a:avLst>
              <a:gd name="adj" fmla="val 2698"/>
            </a:avLst>
          </a:prstGeom>
          <a:solidFill>
            <a:srgbClr val="FFFFFF"/>
          </a:solidFill>
          <a:ln/>
        </p:spPr>
      </p:sp>
      <p:pic>
        <p:nvPicPr>
          <p:cNvPr id="4" name="Image 0" descr="Train and test mean squared error against number of tre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1731038"/>
            <a:ext cx="5612765" cy="333115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975" y="1517014"/>
            <a:ext cx="5619115" cy="3759200"/>
          </a:xfrm>
          <a:prstGeom prst="roundRect">
            <a:avLst>
              <a:gd name="adj" fmla="val 2618"/>
            </a:avLst>
          </a:prstGeom>
          <a:noFill/>
          <a:ln w="6350">
            <a:solidFill>
              <a:srgbClr val="E0DC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43065" y="2775586"/>
            <a:ext cx="4775219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MSE flattens at about 3 after roughly 20 trees.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743065" y="3522346"/>
            <a:ext cx="477521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 MSE stays near 0.6, so more trees do not close the gap.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2800" y="6238242"/>
            <a:ext cx="176879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Sample of 5,000 rows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 importance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42"/>
            <a:ext cx="5349716" cy="378460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/>
        </p:spPr>
      </p:sp>
      <p:pic>
        <p:nvPicPr>
          <p:cNvPr id="4" name="Image 0" descr="Random Forest feature importan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1639157"/>
            <a:ext cx="5337016" cy="353397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5975" y="1517017"/>
            <a:ext cx="5343366" cy="3778250"/>
          </a:xfrm>
          <a:prstGeom prst="roundRect">
            <a:avLst>
              <a:gd name="adj" fmla="val 2605"/>
            </a:avLst>
          </a:prstGeom>
          <a:noFill/>
          <a:ln w="6350">
            <a:solidFill>
              <a:srgbClr val="E0DC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67316" y="2884171"/>
            <a:ext cx="505924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Distance carries 81% of the importance.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67316" y="3333750"/>
            <a:ext cx="5059240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fare_per_km carries 15%, and it contains the target.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2800" y="6238242"/>
            <a:ext cx="23886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Best Random Forest, test run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B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those scores are still optimistic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1"/>
            <a:ext cx="1088339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feature </a:t>
            </a:r>
            <a:r>
              <a:rPr lang="en-US" sz="20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fare_per_km</a:t>
            </a:r>
            <a:r>
              <a:rPr lang="en-US" sz="20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is fare divided by distance, so it contains the target. It still carries 15% of the importance, with distance at 81%. Winsorizing weakened the leak, but R² of 0.947 is still inflated.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89508" y="2915921"/>
            <a:ext cx="10799064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Drop fare_per_km and re-run, with a simple baseline for comparison.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Fit the scaler inside a single sklearn Pipeline, after the split, and save that Pipeline with joblib.</a:t>
            </a:r>
            <a:endParaRPr lang="en-US" sz="1600" dirty="0"/>
          </a:p>
          <a:p>
            <a:pPr algn="l" marL="177292" indent="-177292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 the winsorizing step: it avoids the 39% row loss that the earlier IQR rule caused.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YC Taxi Fares — EDA &amp; Fare Model">
  <a:themeElements>
    <a:clrScheme name="NYC Taxi Fares — EDA &amp; Fare Model">
      <a:dk1>
        <a:srgbClr val="16181D"/>
      </a:dk1>
      <a:lt1>
        <a:srgbClr val="F7F4EC"/>
      </a:lt1>
      <a:dk2>
        <a:srgbClr val="4E4F51"/>
      </a:dk2>
      <a:lt2>
        <a:srgbClr val="E1DED7"/>
      </a:lt2>
      <a:accent1>
        <a:srgbClr val="F5B800"/>
      </a:accent1>
      <a:accent2>
        <a:srgbClr val="5B5F66"/>
      </a:accent2>
      <a:accent3>
        <a:srgbClr val="C9C5BA"/>
      </a:accent3>
      <a:accent4>
        <a:srgbClr val="9AA0A6"/>
      </a:accent4>
      <a:accent5>
        <a:srgbClr val="707070"/>
      </a:accent5>
      <a:accent6>
        <a:srgbClr val="92918F"/>
      </a:accent6>
      <a:hlink>
        <a:srgbClr val="0563C1"/>
      </a:hlink>
      <a:folHlink>
        <a:srgbClr val="954F72"/>
      </a:folHlink>
    </a:clrScheme>
    <a:fontScheme name="NYC Taxi Fares — EDA &amp; Fare Model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Taxi Fares — EDA &amp; Fare Model</dc:title>
  <dc:subject/>
  <dc:creator/>
  <cp:lastModifiedBy/>
  <cp:revision>1</cp:revision>
  <dcterms:created xsi:type="dcterms:W3CDTF">2026-10-03T16:13:22Z</dcterms:created>
  <dcterms:modified xsi:type="dcterms:W3CDTF">2026-10-03T16:13:22Z</dcterms:modified>
</cp:coreProperties>
</file>