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446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notebook: data quality, cleaning, eight questions, heatmaps, then the modelling section and its caveats.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overlap, so the total removed is smaller than the sum of the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fare_per_km was created in the Q8 airport analysis and then flowed into the model features. Results should be re-reported after it is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02510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SCIENCE · EDA AND FARE MODEL</a:t>
            </a:r>
            <a:endParaRPr lang="en-US" sz="16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409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4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NYC Taxi Fares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895090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drives fares and demand across 500,000 trips, 2009–2015, and a Random Forest fare model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and cleaning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5175250" cy="163449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480334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500,000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2590800"/>
            <a:ext cx="480334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trips, 26 columns, 2009–2015. No duplicates, no constant columns.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95"/>
            <a:ext cx="5175250" cy="1634490"/>
          </a:xfrm>
          <a:prstGeom prst="roundRect">
            <a:avLst>
              <a:gd name="adj" fmla="val 6022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6680" y="1930400"/>
            <a:ext cx="480334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96.6%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56680" y="2590800"/>
            <a:ext cx="480334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kept: 482,905 rows after removing 17,095 invalid trips.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77920"/>
          <a:ext cx="10556240" cy="205105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Removed because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Rows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distance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14,250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zero pickup or dropoff coordinate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9,893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Zero passengers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1,796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Distance over 200 km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1,004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12800" y="6238241"/>
            <a:ext cx="93806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Smaller rules: fare over 100 for under 1 km (93), fare ≤ 0 (35), missing values (5). Coordinates are stored in radians.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not move the fare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81480"/>
          <a:ext cx="10556240" cy="3037840"/>
        </p:xfrm>
        <a:graphic>
          <a:graphicData uri="http://schemas.openxmlformats.org/drawingml/2006/table">
            <a:tbl>
              <a:tblPr/>
              <a:tblGrid>
                <a:gridCol w="5278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Factor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Result on cleaned data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Passenger count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for 1–5 passengers, 9.0 for 6. Correlation 0.015.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B5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Car condition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in all four groups. Means 11.30 to 11.39.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3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Traffic condition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fare 8.5 in all three groups. Means 11.31 to 11.37.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Weather (vs. distance)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6181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Median trip 2.16–2.19 km under all five conditions.</a:t>
                      </a:r>
                      <a:endParaRPr lang="en-US" sz="16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71120" marR="71120" marT="71120" marB="71120">
                    <a:lnL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3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5074920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three categorical features are almost perfectly balanced, which suggests they were assigned rather than observed.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12800" y="6238241"/>
            <a:ext cx="211445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Q1, Q2, Q4, Q7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Distance drives the fare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5"/>
            <a:ext cx="3380264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0.858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1880" y="2590800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Spearman correlation of fare with distance (Pearson 0.784). It was 0.61 on the raw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5"/>
            <a:ext cx="3380343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34.27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661694" y="2590800"/>
            <a:ext cx="2954589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airport-pickup fare, vs. 8.10 elsewhere (17,090 trips, 3.5%).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5"/>
            <a:ext cx="3380343" cy="1865630"/>
          </a:xfrm>
          <a:prstGeom prst="roundRect">
            <a:avLst>
              <a:gd name="adj" fmla="val 5276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2.83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51587" y="2590800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median fare per km at airports, vs. 3.86 elsewhere. Airport trips are longer: 10.87 km vs. 2.11 km.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898900"/>
            <a:ext cx="113792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other feature comes close. The next strongest is year (0.151), consistent with fares rising over time.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142322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Q5, Q8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and where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96"/>
            <a:ext cx="3380264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1930400"/>
            <a:ext cx="295450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Fares peak at 5 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1880" y="2306321"/>
            <a:ext cx="2954507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 fare 15.14 at 5 AM, the quietest hour (4,789 trips). Mean distance also peaks there (5.33 km).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5789" y="1674496"/>
            <a:ext cx="338034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1694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Demand peaks at 7 PM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1694" y="230632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30,298 trips at 7 PM, with the lowest mean fare of the day. Busiest slot: Wednesday 19:00.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5682" y="1674496"/>
            <a:ext cx="3380343" cy="158115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6350">
            <a:solidFill>
              <a:srgbClr val="E0DC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1587" y="1930400"/>
            <a:ext cx="295458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Midtown and airports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1587" y="2306321"/>
            <a:ext cx="2954589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Pickups concentrate in Midtown and Lower Manhattan. JFK has the highest median fares (above 40).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3614421"/>
            <a:ext cx="10883392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Midtown has the lowest median fare (about 8) but the highest fare per km. Short, slow trips spread the starting charge over little distance.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340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5F6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Notebook Q3, Q6 and the three heatmaps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4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Modelling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96620" y="1671321"/>
            <a:ext cx="5271770" cy="382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One-hot encoding and StandardScaler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Time features: weekend, morning and evening peaks, quarter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SelectKBest: top 20 of 28 features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 smtClean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80/20 </a:t>
            </a: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split: 235,997 train, 59,000 test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5-fold CV with GridSearch on a Random Forest (8 combinations)</a:t>
            </a:r>
            <a:endParaRPr lang="en-US" sz="1500" dirty="0"/>
          </a:p>
          <a:p>
            <a:pPr marL="170180" indent="-17018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4E0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Best: 100 trees, max depth 20, min split 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26200" y="1671321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5" name="Text 3"/>
          <p:cNvSpPr/>
          <p:nvPr/>
        </p:nvSpPr>
        <p:spPr>
          <a:xfrm>
            <a:off x="6629400" y="1874521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0.0091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629400" y="2382521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MAE on the test 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26200" y="2987039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3190239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0.0450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629400" y="3698239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RMSE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26200" y="4302761"/>
            <a:ext cx="4953000" cy="1163320"/>
          </a:xfrm>
          <a:prstGeom prst="roundRect">
            <a:avLst>
              <a:gd name="adj" fmla="val 8734"/>
            </a:avLst>
          </a:prstGeom>
          <a:solidFill>
            <a:srgbClr val="23262D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4505961"/>
            <a:ext cx="468299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5B8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0.9999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629400" y="5013961"/>
            <a:ext cx="468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5B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R²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B8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those scores are too good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521"/>
            <a:ext cx="1088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feature </a:t>
            </a:r>
            <a:r>
              <a:rPr lang="en-US" sz="2000" b="1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fare_per_km</a:t>
            </a:r>
            <a:r>
              <a:rPr lang="en-US" sz="20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is fare divided by distance, so it contains the target. It carries 25% of the importance, and distance carries 75%. The model is mostly undoing a division.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89508" y="2585721"/>
            <a:ext cx="10799064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292" indent="-1772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Drop fare_per_km and re-run, with a simple baseline for comparison.</a:t>
            </a:r>
            <a:endParaRPr lang="en-US" sz="1600" dirty="0"/>
          </a:p>
          <a:p>
            <a:pPr marL="177292" indent="-1772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Fit the scaler inside a single sklearn Pipeline, after the split, and save that Pipeline with joblib.</a:t>
            </a:r>
            <a:endParaRPr lang="en-US" sz="1600" dirty="0"/>
          </a:p>
          <a:p>
            <a:pPr marL="177292" indent="-177292" algn="l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6181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Replace the IQR rule, which removed 187,908 rows (39%), with fare-based limits.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C Taxi Fares — EDA &amp; Fare Model">
  <a:themeElements>
    <a:clrScheme name="NYC Taxi Fares — EDA &amp; Fare Model">
      <a:dk1>
        <a:srgbClr val="16181D"/>
      </a:dk1>
      <a:lt1>
        <a:srgbClr val="F7F4EC"/>
      </a:lt1>
      <a:dk2>
        <a:srgbClr val="4E4F51"/>
      </a:dk2>
      <a:lt2>
        <a:srgbClr val="E1DED7"/>
      </a:lt2>
      <a:accent1>
        <a:srgbClr val="F5B800"/>
      </a:accent1>
      <a:accent2>
        <a:srgbClr val="5B5F66"/>
      </a:accent2>
      <a:accent3>
        <a:srgbClr val="C9C5BA"/>
      </a:accent3>
      <a:accent4>
        <a:srgbClr val="9AA0A6"/>
      </a:accent4>
      <a:accent5>
        <a:srgbClr val="707070"/>
      </a:accent5>
      <a:accent6>
        <a:srgbClr val="92918F"/>
      </a:accent6>
      <a:hlink>
        <a:srgbClr val="0563C1"/>
      </a:hlink>
      <a:folHlink>
        <a:srgbClr val="954F72"/>
      </a:folHlink>
    </a:clrScheme>
    <a:fontScheme name="NYC Taxi Fares — EDA &amp; Fare Model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635</Words>
  <Application>Microsoft Office PowerPoint</Application>
  <PresentationFormat>Widescreen</PresentationFormat>
  <Paragraphs>78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Helvetica Neue</vt:lpstr>
      <vt:lpstr>NYC Taxi Fares — EDA &amp; Fare Model</vt:lpstr>
      <vt:lpstr>NYC Taxi Fares</vt:lpstr>
      <vt:lpstr>Data and cleaning</vt:lpstr>
      <vt:lpstr>What does not move the fare</vt:lpstr>
      <vt:lpstr>Distance drives the fare</vt:lpstr>
      <vt:lpstr>When and where</vt:lpstr>
      <vt:lpstr>Modelling</vt:lpstr>
      <vt:lpstr>Why those scores are too good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Taxi Fares — EDA &amp; Fare Model</dc:title>
  <dc:subject/>
  <dc:creator>HP</dc:creator>
  <cp:lastModifiedBy>HP</cp:lastModifiedBy>
  <cp:revision>2</cp:revision>
  <dcterms:created xsi:type="dcterms:W3CDTF">2026-10-02T15:43:16Z</dcterms:created>
  <dcterms:modified xsi:type="dcterms:W3CDTF">2026-10-02T21:52:19Z</dcterms:modified>
</cp:coreProperties>
</file>